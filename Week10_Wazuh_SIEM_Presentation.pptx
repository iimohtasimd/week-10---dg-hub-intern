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2a6bc0fe-606b-9681-c3f9-75448089e3ad}">
          <p14:sldIdLst>
            <p14:sldId id="256"/>
            <p14:sldId id="257"/>
            <p14:sldId id="258"/>
          </p14:sldIdLst>
        </p14:section>
        <p14:section name="Deployment" id="{d06acdf7-8223-286b-2e4d-133eccad78db}">
          <p14:sldIdLst>
            <p14:sldId id="259"/>
            <p14:sldId id="260"/>
          </p14:sldIdLst>
        </p14:section>
        <p14:section name="Detection and investigation" id="{a368dade-db43-206d-b872-7757eb5b7625}">
          <p14:sldIdLst>
            <p14:sldId id="261"/>
            <p14:sldId id="262"/>
            <p14:sldId id="263"/>
          </p14:sldIdLst>
        </p14:section>
        <p14:section name="Integration and summary" id="{9c8f95f1-8a69-8f50-08b8-0dac7ee4ad4c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7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733"/>
                </a:solidFill>
                <a:latin typeface="+mn-lt"/>
              </a:rPr>
              <a:t>Alerts by rule ID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60106 auth failed</c:v>
                  </c:pt>
                  <c:pt idx="1">
                    <c:v>60103 logon success</c:v>
                  </c:pt>
                  <c:pt idx="2">
                    <c:v>554 file modified</c:v>
                  </c:pt>
                  <c:pt idx="3">
                    <c:v>2100498 Nmap scan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7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733"/>
                </a:solidFill>
                <a:latin typeface="+mn-lt"/>
              </a:rPr>
              <a:t>Alerts by severity (156)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Alerts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64545"/>
              </a:solidFill>
              <a:effectLst/>
            </c:spPr>
          </c:dPt>
          <c:dPt>
            <c:idx val="1"/>
            <c:bubble3D val="0"/>
            <c:spPr>
              <a:solidFill>
                <a:srgbClr val="F2A33A"/>
              </a:solidFill>
              <a:effectLst/>
            </c:spPr>
          </c:dPt>
          <c:dPt>
            <c:idx val="2"/>
            <c:bubble3D val="0"/>
            <c:spPr>
              <a:solidFill>
                <a:srgbClr val="3C8DBC"/>
              </a:solidFill>
              <a:effectLst/>
            </c:spPr>
          </c:dPt>
          <c:dPt>
            <c:idx val="3"/>
            <c:bubble3D val="0"/>
            <c:spPr>
              <a:solidFill>
                <a:srgbClr val="4FAE8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12</c:v>
                </c:pt>
                <c:pt idx="1">
                  <c:v>34</c:v>
                </c:pt>
                <c:pt idx="2">
                  <c:v>67</c:v>
                </c:pt>
                <c:pt idx="3">
                  <c:v>43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B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5176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Wazuh SIEM Setup &amp; Alert Monitoring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51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Week 10 · Security Operations Center (SOC) module · DG Interns Hub</a:t>
            </a:r>
            <a:endParaRPr lang="en-US" sz="1800" dirty="0"/>
          </a:p>
        </p:txBody>
      </p:sp>
      <p:sp>
        <p:nvSpPr>
          <p:cNvPr id="4" name="Chip Wazuh 4.8.1"/>
          <p:cNvSpPr txBox="1"/>
          <p:nvPr/>
        </p:nvSpPr>
        <p:spPr>
          <a:xfrm>
            <a:off x="640080" y="3520440"/>
            <a:ext cx="19659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Wazuh 4.8.1</a:t>
            </a:r>
            <a:endParaRPr lang="en-US" sz="1400" dirty="0"/>
          </a:p>
        </p:txBody>
      </p:sp>
      <p:sp>
        <p:nvSpPr>
          <p:cNvPr id="5" name="Chip Windows 10 endpoint"/>
          <p:cNvSpPr txBox="1"/>
          <p:nvPr/>
        </p:nvSpPr>
        <p:spPr>
          <a:xfrm>
            <a:off x="2788920" y="3520440"/>
            <a:ext cx="19659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Windows 10 endpoint</a:t>
            </a:r>
            <a:endParaRPr lang="en-US" sz="1400" dirty="0"/>
          </a:p>
        </p:txBody>
      </p:sp>
      <p:sp>
        <p:nvSpPr>
          <p:cNvPr id="6" name="Chip Snort IDS"/>
          <p:cNvSpPr txBox="1"/>
          <p:nvPr/>
        </p:nvSpPr>
        <p:spPr>
          <a:xfrm>
            <a:off x="4937760" y="3520440"/>
            <a:ext cx="19659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Snort IDS</a:t>
            </a:r>
            <a:endParaRPr lang="en-US" sz="1400" dirty="0"/>
          </a:p>
        </p:txBody>
      </p:sp>
      <p:sp>
        <p:nvSpPr>
          <p:cNvPr id="7" name="Author line"/>
          <p:cNvSpPr txBox="1"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Md Mohtasim · DG/JULY/CYBER/017 · 13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Wazuh works</a:t>
            </a:r>
            <a:endParaRPr lang="en-US" sz="3000" dirty="0"/>
          </a:p>
        </p:txBody>
      </p:sp>
      <p:sp>
        <p:nvSpPr>
          <p:cNvPr id="3" name="Flow Endpoint + Agent"/>
          <p:cNvSpPr txBox="1"/>
          <p:nvPr/>
        </p:nvSpPr>
        <p:spPr>
          <a:xfrm>
            <a:off x="457200" y="109728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Endpoint + Agent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Collects logs, logons, file changes</a:t>
            </a:r>
            <a:endParaRPr lang="en-US" sz="1600" dirty="0"/>
          </a:p>
        </p:txBody>
      </p:sp>
      <p:sp>
        <p:nvSpPr>
          <p:cNvPr id="4" name="Arrow 1"/>
          <p:cNvSpPr/>
          <p:nvPr/>
        </p:nvSpPr>
        <p:spPr>
          <a:xfrm>
            <a:off x="2313432" y="1444752"/>
            <a:ext cx="246888" cy="219456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Flow Manager"/>
          <p:cNvSpPr txBox="1"/>
          <p:nvPr/>
        </p:nvSpPr>
        <p:spPr>
          <a:xfrm>
            <a:off x="2590495" y="109728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Manager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Decodes events, applies rules</a:t>
            </a:r>
            <a:endParaRPr lang="en-US" sz="1600" dirty="0"/>
          </a:p>
        </p:txBody>
      </p:sp>
      <p:sp>
        <p:nvSpPr>
          <p:cNvPr id="6" name="Arrow 2"/>
          <p:cNvSpPr/>
          <p:nvPr/>
        </p:nvSpPr>
        <p:spPr>
          <a:xfrm>
            <a:off x="4446727" y="1444752"/>
            <a:ext cx="246888" cy="219456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Flow Dashboard"/>
          <p:cNvSpPr txBox="1"/>
          <p:nvPr/>
        </p:nvSpPr>
        <p:spPr>
          <a:xfrm>
            <a:off x="4723790" y="109728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Dashboard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Search, filter, investigate</a:t>
            </a:r>
            <a:endParaRPr lang="en-US" sz="1600" dirty="0"/>
          </a:p>
        </p:txBody>
      </p:sp>
      <p:sp>
        <p:nvSpPr>
          <p:cNvPr id="8" name="Arrow 3"/>
          <p:cNvSpPr/>
          <p:nvPr/>
        </p:nvSpPr>
        <p:spPr>
          <a:xfrm>
            <a:off x="6580022" y="1444752"/>
            <a:ext cx="246888" cy="219456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Flow SOC analyst"/>
          <p:cNvSpPr txBox="1"/>
          <p:nvPr/>
        </p:nvSpPr>
        <p:spPr>
          <a:xfrm>
            <a:off x="6857086" y="109728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SOC analyst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Triage and decide</a:t>
            </a:r>
            <a:endParaRPr lang="en-US" sz="1600" dirty="0"/>
          </a:p>
        </p:txBody>
      </p:sp>
      <p:sp>
        <p:nvSpPr>
          <p:cNvPr id="10" name="Card Wazuh"/>
          <p:cNvSpPr/>
          <p:nvPr/>
        </p:nvSpPr>
        <p:spPr>
          <a:xfrm>
            <a:off x="457200" y="2286000"/>
            <a:ext cx="40233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Wazuh"/>
          <p:cNvSpPr txBox="1"/>
          <p:nvPr/>
        </p:nvSpPr>
        <p:spPr>
          <a:xfrm>
            <a:off x="640080" y="242316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Wazuh: SIEM / XDR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Endpoint telemetry: logs, logons, file changes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Rule IDs and levels speed up triage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Host-level view a network sensor cannot see</a:t>
            </a:r>
            <a:endParaRPr lang="en-US" sz="1600" dirty="0"/>
          </a:p>
        </p:txBody>
      </p:sp>
      <p:sp>
        <p:nvSpPr>
          <p:cNvPr id="12" name="Card Snort"/>
          <p:cNvSpPr/>
          <p:nvPr/>
        </p:nvSpPr>
        <p:spPr>
          <a:xfrm>
            <a:off x="4663440" y="2286000"/>
            <a:ext cx="40233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Snort"/>
          <p:cNvSpPr txBox="1"/>
          <p:nvPr/>
        </p:nvSpPr>
        <p:spPr>
          <a:xfrm>
            <a:off x="4846320" y="242316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Snort: network IDS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Matches packets against signatures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Writes matches to its alert log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Shows suspicious traffic reaching a host</a:t>
            </a:r>
            <a:endParaRPr lang="en-US" sz="1600" dirty="0"/>
          </a:p>
        </p:txBody>
      </p:sp>
      <p:sp>
        <p:nvSpPr>
          <p:cNvPr id="14" name="Complement note"/>
          <p:cNvSpPr txBox="1"/>
          <p:nvPr/>
        </p:nvSpPr>
        <p:spPr>
          <a:xfrm>
            <a:off x="457200" y="42976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They complement each other: Snort shows the traffic, Wazuh shows what happened on the host.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Lab design and scope</a:t>
            </a:r>
            <a:endParaRPr lang="en-US" sz="3000" dirty="0"/>
          </a:p>
        </p:txBody>
      </p:sp>
      <p:sp>
        <p:nvSpPr>
          <p:cNvPr id="3" name="Machine card 1"/>
          <p:cNvSpPr/>
          <p:nvPr/>
        </p:nvSpPr>
        <p:spPr>
          <a:xfrm>
            <a:off x="457200" y="1097280"/>
            <a:ext cx="26517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achine text 1"/>
          <p:cNvSpPr txBox="1"/>
          <p:nvPr/>
        </p:nvSpPr>
        <p:spPr>
          <a:xfrm>
            <a:off x="621792" y="1207008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6"/>
                </a:solidFill>
              </a:rPr>
              <a:t>Wazuh server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wazuh-server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192.168.56.10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Manager, indexer, dashboard · Ubuntu 22.04.5 · 4 vCPU, 7.7 GiB RAM</a:t>
            </a:r>
            <a:endParaRPr lang="en-US" sz="1200" dirty="0"/>
          </a:p>
        </p:txBody>
      </p:sp>
      <p:sp>
        <p:nvSpPr>
          <p:cNvPr id="5" name="Machine card 2"/>
          <p:cNvSpPr/>
          <p:nvPr/>
        </p:nvSpPr>
        <p:spPr>
          <a:xfrm>
            <a:off x="3246120" y="1097280"/>
            <a:ext cx="26517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Machine text 2"/>
          <p:cNvSpPr txBox="1"/>
          <p:nvPr/>
        </p:nvSpPr>
        <p:spPr>
          <a:xfrm>
            <a:off x="3410712" y="1207008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6"/>
                </a:solidFill>
              </a:rPr>
              <a:t>Monitored endpoint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windows-agent (ID 001)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192.168.56.11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Windows 10 Pro · Wazuh Agent 4.8.1</a:t>
            </a:r>
            <a:endParaRPr lang="en-US" sz="1200" dirty="0"/>
          </a:p>
        </p:txBody>
      </p:sp>
      <p:sp>
        <p:nvSpPr>
          <p:cNvPr id="7" name="Machine card 3"/>
          <p:cNvSpPr/>
          <p:nvPr/>
        </p:nvSpPr>
        <p:spPr>
          <a:xfrm>
            <a:off x="6035040" y="1097280"/>
            <a:ext cx="26517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chine text 3"/>
          <p:cNvSpPr txBox="1"/>
          <p:nvPr/>
        </p:nvSpPr>
        <p:spPr>
          <a:xfrm>
            <a:off x="6199632" y="1207008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6"/>
                </a:solidFill>
              </a:rPr>
              <a:t>Test traffic source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Lab host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192.168.56.1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Runs the authorised Nmap scan</a:t>
            </a:r>
            <a:endParaRPr lang="en-US" sz="1200" dirty="0"/>
          </a:p>
        </p:txBody>
      </p:sp>
      <p:sp>
        <p:nvSpPr>
          <p:cNvPr id="9" name="Scope heading"/>
          <p:cNvSpPr txBox="1"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Scope and constraints (host-only network 192.168.56.0/24)</a:t>
            </a:r>
            <a:endParaRPr lang="en-US" sz="1600" dirty="0"/>
          </a:p>
        </p:txBody>
      </p:sp>
      <p:sp>
        <p:nvSpPr>
          <p:cNvPr id="10" name="Constraint 1"/>
          <p:cNvSpPr txBox="1"/>
          <p:nvPr/>
        </p:nvSpPr>
        <p:spPr>
          <a:xfrm>
            <a:off x="457200" y="3401568"/>
            <a:ext cx="40233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Lab-only: own VMs, isolated network</a:t>
            </a:r>
            <a:endParaRPr lang="en-US" sz="1400" dirty="0"/>
          </a:p>
        </p:txBody>
      </p:sp>
      <p:sp>
        <p:nvSpPr>
          <p:cNvPr id="11" name="Constraint 2"/>
          <p:cNvSpPr txBox="1"/>
          <p:nvPr/>
        </p:nvSpPr>
        <p:spPr>
          <a:xfrm>
            <a:off x="4663440" y="3401568"/>
            <a:ext cx="40233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Benign tests: logons, a file edit, an authorised scan</a:t>
            </a:r>
            <a:endParaRPr lang="en-US" sz="1400" dirty="0"/>
          </a:p>
        </p:txBody>
      </p:sp>
      <p:sp>
        <p:nvSpPr>
          <p:cNvPr id="12" name="Constraint 3"/>
          <p:cNvSpPr txBox="1"/>
          <p:nvPr/>
        </p:nvSpPr>
        <p:spPr>
          <a:xfrm>
            <a:off x="457200" y="4059936"/>
            <a:ext cx="40233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Detection only: no blocking configured</a:t>
            </a:r>
            <a:endParaRPr lang="en-US" sz="1400" dirty="0"/>
          </a:p>
        </p:txBody>
      </p:sp>
      <p:sp>
        <p:nvSpPr>
          <p:cNvPr id="13" name="Constraint 4"/>
          <p:cNvSpPr txBox="1"/>
          <p:nvPr/>
        </p:nvSpPr>
        <p:spPr>
          <a:xfrm>
            <a:off x="4663440" y="4059936"/>
            <a:ext cx="40233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Small sample: no false-positive claims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Installing and verifying Wazuh</a:t>
            </a:r>
            <a:endParaRPr lang="en-US" sz="3000" dirty="0"/>
          </a:p>
        </p:txBody>
      </p:sp>
      <p:sp>
        <p:nvSpPr>
          <p:cNvPr id="3" name="Installer label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Official installer, all-in-one mode</a:t>
            </a:r>
            <a:endParaRPr lang="en-US" sz="1400" dirty="0"/>
          </a:p>
        </p:txBody>
      </p:sp>
      <p:sp>
        <p:nvSpPr>
          <p:cNvPr id="4" name="Install command"/>
          <p:cNvSpPr txBox="1"/>
          <p:nvPr/>
        </p:nvSpPr>
        <p:spPr>
          <a:xfrm>
            <a:off x="457200" y="1417320"/>
            <a:ext cx="45720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  <p:txBody>
          <a:bodyPr wrap="square" lIns="2286" tIns="2286" rIns="2286" bIns="2286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installer from packages.wazuh.com/4.8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 wazuh-install.sh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A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./wazuh-install.sh -a</a:t>
            </a:r>
            <a:endParaRPr lang="en-US" sz="1300" dirty="0"/>
          </a:p>
        </p:txBody>
      </p:sp>
      <p:graphicFrame>
        <p:nvGraphicFramePr>
          <p:cNvPr id="5" name="Server paramet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4572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22.04.5 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wazuh-server, 192.168.56.10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vCPU · 7.7 GiB RAM · 50 GB disk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9200 indexer · 55000 API · 443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6" name="Stat card 1"/>
          <p:cNvSpPr/>
          <p:nvPr/>
        </p:nvSpPr>
        <p:spPr>
          <a:xfrm>
            <a:off x="5303520" y="1097280"/>
            <a:ext cx="33832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value 1"/>
          <p:cNvSpPr txBox="1"/>
          <p:nvPr/>
        </p:nvSpPr>
        <p:spPr>
          <a:xfrm>
            <a:off x="5394960" y="11887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7/7</a:t>
            </a:r>
            <a:endParaRPr lang="en-US" sz="3000" dirty="0"/>
          </a:p>
        </p:txBody>
      </p:sp>
      <p:sp>
        <p:nvSpPr>
          <p:cNvPr id="8" name="Stat label 1"/>
          <p:cNvSpPr txBox="1"/>
          <p:nvPr/>
        </p:nvSpPr>
        <p:spPr>
          <a:xfrm>
            <a:off x="6629400" y="11887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installer stages completed OK</a:t>
            </a:r>
            <a:endParaRPr lang="en-US" sz="1300" dirty="0"/>
          </a:p>
        </p:txBody>
      </p:sp>
      <p:sp>
        <p:nvSpPr>
          <p:cNvPr id="9" name="Stat card 2"/>
          <p:cNvSpPr/>
          <p:nvPr/>
        </p:nvSpPr>
        <p:spPr>
          <a:xfrm>
            <a:off x="5303520" y="2331720"/>
            <a:ext cx="33832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value 2"/>
          <p:cNvSpPr txBox="1"/>
          <p:nvPr/>
        </p:nvSpPr>
        <p:spPr>
          <a:xfrm>
            <a:off x="5394960" y="24231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1" name="Stat label 2"/>
          <p:cNvSpPr txBox="1"/>
          <p:nvPr/>
        </p:nvSpPr>
        <p:spPr>
          <a:xfrm>
            <a:off x="6629400" y="24231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services active (running): manager, indexer, dashboard</a:t>
            </a:r>
            <a:endParaRPr lang="en-US" sz="1300" dirty="0"/>
          </a:p>
        </p:txBody>
      </p:sp>
      <p:sp>
        <p:nvSpPr>
          <p:cNvPr id="12" name="Stat card 3"/>
          <p:cNvSpPr/>
          <p:nvPr/>
        </p:nvSpPr>
        <p:spPr>
          <a:xfrm>
            <a:off x="5303520" y="3566160"/>
            <a:ext cx="33832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value 3"/>
          <p:cNvSpPr txBox="1"/>
          <p:nvPr/>
        </p:nvSpPr>
        <p:spPr>
          <a:xfrm>
            <a:off x="5394960" y="36576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4.8.1</a:t>
            </a:r>
            <a:endParaRPr lang="en-US" sz="3000" dirty="0"/>
          </a:p>
        </p:txBody>
      </p:sp>
      <p:sp>
        <p:nvSpPr>
          <p:cNvPr id="14" name="Stat label 3"/>
          <p:cNvSpPr txBox="1"/>
          <p:nvPr/>
        </p:nvSpPr>
        <p:spPr>
          <a:xfrm>
            <a:off x="6629400" y="36576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Wazuh version, dashboard at https://192.168.56.10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Onboarding the Windows endpoint</a:t>
            </a:r>
            <a:endParaRPr lang="en-US" sz="3000" dirty="0"/>
          </a:p>
        </p:txBody>
      </p:sp>
      <p:graphicFrame>
        <p:nvGraphicFramePr>
          <p:cNvPr id="6" name="Agent detail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ID /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 / windows-agent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192.168.56.11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10 Pro 10.0.19045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(keep-alive 12:08:12)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4" name="Card Proof 1"/>
          <p:cNvSpPr/>
          <p:nvPr/>
        </p:nvSpPr>
        <p:spPr>
          <a:xfrm>
            <a:off x="4754880" y="1097280"/>
            <a:ext cx="39319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Proof 1"/>
          <p:cNvSpPr txBox="1"/>
          <p:nvPr/>
        </p:nvSpPr>
        <p:spPr>
          <a:xfrm>
            <a:off x="4937760" y="12344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Proof 1: registration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Agents page: 1 total, 1 active, 0 disconnected</a:t>
            </a:r>
            <a:endParaRPr lang="en-US" sz="1600" dirty="0"/>
          </a:p>
        </p:txBody>
      </p:sp>
      <p:sp>
        <p:nvSpPr>
          <p:cNvPr id="6" name="Card Proof 2"/>
          <p:cNvSpPr/>
          <p:nvPr/>
        </p:nvSpPr>
        <p:spPr>
          <a:xfrm>
            <a:off x="4754880" y="256032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Proof 2"/>
          <p:cNvSpPr txBox="1"/>
          <p:nvPr/>
        </p:nvSpPr>
        <p:spPr>
          <a:xfrm>
            <a:off x="4937760" y="2697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Proof 2: data flow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Discover shows Windows events with rule ID and level</a:t>
            </a:r>
            <a:endParaRPr lang="en-US" sz="1600" dirty="0"/>
          </a:p>
        </p:txBody>
      </p:sp>
      <p:sp>
        <p:nvSpPr>
          <p:cNvPr id="8" name="Agent note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Registration alone does not prove monitoring. Events arriving in Discover does.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Safe test events, all detected</a:t>
            </a:r>
            <a:endParaRPr lang="en-US" sz="3000" dirty="0"/>
          </a:p>
        </p:txBody>
      </p:sp>
      <p:graphicFrame>
        <p:nvGraphicFramePr>
          <p:cNvPr id="7" name="Test eve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468880"/>
                <a:gridCol w="338328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Wazuh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Wrong-password attempts on test Administrator 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“Windows authentication failed”, level 10 (event 4625)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 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test 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“Windows logon success”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modification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Edited Desktop\test.txt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“File modified”, level 7; 12 → 28 bytes, MD5 changed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Authorised Nmap scan from lab host 192.168.56.1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“ET SCAN Nmap Scripting Engine User-Agent Detected”, level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2100498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4" name="Events note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Every known action was located in Wazuh, which confirms the pipeline works end to end.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Alert register: 10 alerts triaged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Register findings"/>
          <p:cNvSpPr/>
          <p:nvPr/>
        </p:nvSpPr>
        <p:spPr>
          <a:xfrm>
            <a:off x="4937760" y="1097280"/>
            <a:ext cx="374904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Register findings"/>
          <p:cNvSpPr txBox="1"/>
          <p:nvPr/>
        </p:nvSpPr>
        <p:spPr>
          <a:xfrm>
            <a:off x="5120640" y="123444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the register shows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 failed logons alternate with 2 successes over about 80 minutes: the controlled test, not an attack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FIM rule 554 fired on each edit; 12 → 28 bytes matches the lab action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Nmap rule 2100498 seen twice, same endpoints and port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lockout, privilege or malware alert followed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Investigating rule 2100498</a:t>
            </a:r>
            <a:endParaRPr lang="en-US" sz="3000" dirty="0"/>
          </a:p>
        </p:txBody>
      </p:sp>
      <p:sp>
        <p:nvSpPr>
          <p:cNvPr id="3" name="Timeline line"/>
          <p:cNvSpPr/>
          <p:nvPr/>
        </p:nvSpPr>
        <p:spPr>
          <a:xfrm>
            <a:off x="822960" y="1627632"/>
            <a:ext cx="74980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Time 1"/>
          <p:cNvSpPr txBox="1"/>
          <p:nvPr/>
        </p:nvSpPr>
        <p:spPr>
          <a:xfrm>
            <a:off x="457200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11:45–12:05</a:t>
            </a:r>
            <a:endParaRPr lang="en-US" sz="1500" dirty="0"/>
          </a:p>
        </p:txBody>
      </p:sp>
      <p:sp>
        <p:nvSpPr>
          <p:cNvPr id="5" name="Node 1"/>
          <p:cNvSpPr/>
          <p:nvPr/>
        </p:nvSpPr>
        <p:spPr>
          <a:xfrm>
            <a:off x="1280160" y="1490472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Event 1"/>
          <p:cNvSpPr txBox="1"/>
          <p:nvPr/>
        </p:nvSpPr>
        <p:spPr>
          <a:xfrm>
            <a:off x="457200" y="1874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Failed and successful logons: controlled test</a:t>
            </a:r>
            <a:endParaRPr lang="en-US" sz="1400" dirty="0"/>
          </a:p>
        </p:txBody>
      </p:sp>
      <p:sp>
        <p:nvSpPr>
          <p:cNvPr id="7" name="Time 2"/>
          <p:cNvSpPr txBox="1"/>
          <p:nvPr/>
        </p:nvSpPr>
        <p:spPr>
          <a:xfrm>
            <a:off x="2560320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12:14:33</a:t>
            </a:r>
            <a:endParaRPr lang="en-US" sz="1500" dirty="0"/>
          </a:p>
        </p:txBody>
      </p:sp>
      <p:sp>
        <p:nvSpPr>
          <p:cNvPr id="8" name="Node 2"/>
          <p:cNvSpPr/>
          <p:nvPr/>
        </p:nvSpPr>
        <p:spPr>
          <a:xfrm>
            <a:off x="3383280" y="1490472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Event 2"/>
          <p:cNvSpPr txBox="1"/>
          <p:nvPr/>
        </p:nvSpPr>
        <p:spPr>
          <a:xfrm>
            <a:off x="2560320" y="1874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First Nmap scripting-engine alert, 192.168.56.1 → .11:80</a:t>
            </a:r>
            <a:endParaRPr lang="en-US" sz="1400" dirty="0"/>
          </a:p>
        </p:txBody>
      </p:sp>
      <p:sp>
        <p:nvSpPr>
          <p:cNvPr id="10" name="Time 3"/>
          <p:cNvSpPr txBox="1"/>
          <p:nvPr/>
        </p:nvSpPr>
        <p:spPr>
          <a:xfrm>
            <a:off x="4663440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12:15:21</a:t>
            </a:r>
            <a:endParaRPr lang="en-US" sz="1500" dirty="0"/>
          </a:p>
        </p:txBody>
      </p:sp>
      <p:sp>
        <p:nvSpPr>
          <p:cNvPr id="11" name="Node 3"/>
          <p:cNvSpPr/>
          <p:nvPr/>
        </p:nvSpPr>
        <p:spPr>
          <a:xfrm>
            <a:off x="5486400" y="1490472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2" name="Event 3"/>
          <p:cNvSpPr txBox="1"/>
          <p:nvPr/>
        </p:nvSpPr>
        <p:spPr>
          <a:xfrm>
            <a:off x="4663440" y="1874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test.txt modified, 12 → 28 bytes (FIM)</a:t>
            </a:r>
            <a:endParaRPr lang="en-US" sz="1400" dirty="0"/>
          </a:p>
        </p:txBody>
      </p:sp>
      <p:sp>
        <p:nvSpPr>
          <p:cNvPr id="13" name="Time 4"/>
          <p:cNvSpPr txBox="1"/>
          <p:nvPr/>
        </p:nvSpPr>
        <p:spPr>
          <a:xfrm>
            <a:off x="6766560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12:32:18</a:t>
            </a:r>
            <a:endParaRPr lang="en-US" sz="1500" dirty="0"/>
          </a:p>
        </p:txBody>
      </p:sp>
      <p:sp>
        <p:nvSpPr>
          <p:cNvPr id="14" name="Node 4"/>
          <p:cNvSpPr/>
          <p:nvPr/>
        </p:nvSpPr>
        <p:spPr>
          <a:xfrm>
            <a:off x="7589520" y="1490472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Event 4"/>
          <p:cNvSpPr txBox="1"/>
          <p:nvPr/>
        </p:nvSpPr>
        <p:spPr>
          <a:xfrm>
            <a:off x="6766560" y="1874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Second Nmap alert, now from the Snort log</a:t>
            </a:r>
            <a:endParaRPr lang="en-US" sz="1400" dirty="0"/>
          </a:p>
        </p:txBody>
      </p:sp>
      <p:sp>
        <p:nvSpPr>
          <p:cNvPr id="16" name="Card Assessment"/>
          <p:cNvSpPr/>
          <p:nvPr/>
        </p:nvSpPr>
        <p:spPr>
          <a:xfrm>
            <a:off x="457200" y="292608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Assessment"/>
          <p:cNvSpPr txBox="1"/>
          <p:nvPr/>
        </p:nvSpPr>
        <p:spPr>
          <a:xfrm>
            <a:off x="640080" y="306324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Assessment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Level 4 Medium: reconnaissance only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Single known internal source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exploit, malware or privilege alert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Verdict: expected lab scan, no escalation</a:t>
            </a:r>
            <a:endParaRPr lang="en-US" sz="1600" dirty="0"/>
          </a:p>
        </p:txBody>
      </p:sp>
      <p:sp>
        <p:nvSpPr>
          <p:cNvPr id="18" name="Card Response"/>
          <p:cNvSpPr/>
          <p:nvPr/>
        </p:nvSpPr>
        <p:spPr>
          <a:xfrm>
            <a:off x="4663440" y="292608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Response"/>
          <p:cNvSpPr txBox="1"/>
          <p:nvPr/>
        </p:nvSpPr>
        <p:spPr>
          <a:xfrm>
            <a:off x="4846320" y="306324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Response and lessons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If unauthorised: isolate and block source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Preserve alert and packet evidence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Restrict services on port 80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Alert on repeated recon from one source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Wazuh + Snort: one combined view</a:t>
            </a:r>
            <a:endParaRPr lang="en-US" sz="3000" dirty="0"/>
          </a:p>
        </p:txBody>
      </p:sp>
      <p:sp>
        <p:nvSpPr>
          <p:cNvPr id="3" name="Step 1"/>
          <p:cNvSpPr txBox="1"/>
          <p:nvPr/>
        </p:nvSpPr>
        <p:spPr>
          <a:xfrm>
            <a:off x="457200" y="1097280"/>
            <a:ext cx="1600200" cy="777240"/>
          </a:xfrm>
          <a:prstGeom prst="homePlate">
            <a:avLst/>
          </a:prstGeom>
          <a:solidFill>
            <a:schemeClr val="accent1"/>
          </a:solidFill>
          <a:ln/>
        </p:spPr>
        <p:txBody>
          <a:bodyPr wrap="square" lIns="0" tIns="76200" rIns="1778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Snort detects traffic</a:t>
            </a:r>
            <a:endParaRPr lang="en-US" sz="1300" dirty="0"/>
          </a:p>
        </p:txBody>
      </p:sp>
      <p:sp>
        <p:nvSpPr>
          <p:cNvPr id="4" name="Step 2"/>
          <p:cNvSpPr txBox="1"/>
          <p:nvPr/>
        </p:nvSpPr>
        <p:spPr>
          <a:xfrm>
            <a:off x="2103120" y="1097280"/>
            <a:ext cx="1600200" cy="777240"/>
          </a:xfrm>
          <a:prstGeom prst="homePlate">
            <a:avLst/>
          </a:prstGeom>
          <a:solidFill>
            <a:schemeClr val="accent1"/>
          </a:solidFill>
          <a:ln/>
        </p:spPr>
        <p:txBody>
          <a:bodyPr wrap="square" lIns="0" tIns="76200" rIns="1778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Alert written to alert.log</a:t>
            </a:r>
            <a:endParaRPr lang="en-US" sz="1300" dirty="0"/>
          </a:p>
        </p:txBody>
      </p:sp>
      <p:sp>
        <p:nvSpPr>
          <p:cNvPr id="5" name="Step 3"/>
          <p:cNvSpPr txBox="1"/>
          <p:nvPr/>
        </p:nvSpPr>
        <p:spPr>
          <a:xfrm>
            <a:off x="3749040" y="1097280"/>
            <a:ext cx="1600200" cy="777240"/>
          </a:xfrm>
          <a:prstGeom prst="homePlate">
            <a:avLst/>
          </a:prstGeom>
          <a:solidFill>
            <a:schemeClr val="accent1"/>
          </a:solidFill>
          <a:ln/>
        </p:spPr>
        <p:txBody>
          <a:bodyPr wrap="square" lIns="0" tIns="76200" rIns="1778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Agent reads and forwards</a:t>
            </a:r>
            <a:endParaRPr lang="en-US" sz="1300" dirty="0"/>
          </a:p>
        </p:txBody>
      </p:sp>
      <p:sp>
        <p:nvSpPr>
          <p:cNvPr id="6" name="Step 4"/>
          <p:cNvSpPr txBox="1"/>
          <p:nvPr/>
        </p:nvSpPr>
        <p:spPr>
          <a:xfrm>
            <a:off x="5394960" y="1097280"/>
            <a:ext cx="1600200" cy="777240"/>
          </a:xfrm>
          <a:prstGeom prst="homePlate">
            <a:avLst/>
          </a:prstGeom>
          <a:solidFill>
            <a:schemeClr val="accent1"/>
          </a:solidFill>
          <a:ln/>
        </p:spPr>
        <p:txBody>
          <a:bodyPr wrap="square" lIns="0" tIns="76200" rIns="1778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Manager decodes, applies rules</a:t>
            </a:r>
            <a:endParaRPr lang="en-US" sz="1300" dirty="0"/>
          </a:p>
        </p:txBody>
      </p:sp>
      <p:sp>
        <p:nvSpPr>
          <p:cNvPr id="7" name="Step 5"/>
          <p:cNvSpPr txBox="1"/>
          <p:nvPr/>
        </p:nvSpPr>
        <p:spPr>
          <a:xfrm>
            <a:off x="7040880" y="1097280"/>
            <a:ext cx="1600200" cy="777240"/>
          </a:xfrm>
          <a:prstGeom prst="homePlate">
            <a:avLst/>
          </a:prstGeom>
          <a:solidFill>
            <a:schemeClr val="accent2"/>
          </a:solidFill>
          <a:ln/>
        </p:spPr>
        <p:txBody>
          <a:bodyPr wrap="square" lIns="0" tIns="76200" rIns="1778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Analyst searches “snort”</a:t>
            </a:r>
            <a:endParaRPr lang="en-US" sz="1300" dirty="0"/>
          </a:p>
        </p:txBody>
      </p:sp>
      <p:sp>
        <p:nvSpPr>
          <p:cNvPr id="8" name="Card Correlation"/>
          <p:cNvSpPr/>
          <p:nvPr/>
        </p:nvSpPr>
        <p:spPr>
          <a:xfrm>
            <a:off x="457200" y="2148840"/>
            <a:ext cx="475488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Correlation"/>
          <p:cNvSpPr txBox="1"/>
          <p:nvPr/>
        </p:nvSpPr>
        <p:spPr>
          <a:xfrm>
            <a:off x="640080" y="2286000"/>
            <a:ext cx="4389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Correlation, 2 Oct 2026 at 12:32:18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Snort: ET SCAN Nmap Scripting Engine (2100498)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192.168.56.1 → 192.168.56.11:80/TCP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agent: logons 11:45–12:05, test.txt edit 12:15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Matched on time, source/destination, host, context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Result: reconnaissance from the lab host, no follow-on</a:t>
            </a:r>
            <a:endParaRPr lang="en-US" sz="1600" dirty="0"/>
          </a:p>
        </p:txBody>
      </p:sp>
      <p:sp>
        <p:nvSpPr>
          <p:cNvPr id="10" name="Card Week 9 extension"/>
          <p:cNvSpPr/>
          <p:nvPr/>
        </p:nvSpPr>
        <p:spPr>
          <a:xfrm>
            <a:off x="5394960" y="2148840"/>
            <a:ext cx="32918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Week 9 extension"/>
          <p:cNvSpPr txBox="1"/>
          <p:nvPr/>
        </p:nvSpPr>
        <p:spPr>
          <a:xfrm>
            <a:off x="5577840" y="2286000"/>
            <a:ext cx="2926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Extending to Week 9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Agent on the Kali sensor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a snort-fast log source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Rules 1000001 / 1000002 would appear in Wazuh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Documented, not yet tested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Dashboard summary and conclusion</a:t>
            </a:r>
            <a:endParaRPr lang="en-US" sz="3000" dirty="0"/>
          </a:p>
        </p:txBody>
      </p:sp>
      <p:sp>
        <p:nvSpPr>
          <p:cNvPr id="3" name="KPI card 1"/>
          <p:cNvSpPr/>
          <p:nvPr/>
        </p:nvSpPr>
        <p:spPr>
          <a:xfrm>
            <a:off x="457200" y="109728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KPI text 1"/>
          <p:cNvSpPr txBox="1"/>
          <p:nvPr/>
        </p:nvSpPr>
        <p:spPr>
          <a:xfrm>
            <a:off x="457200" y="109728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1,842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events (24 h)</a:t>
            </a:r>
            <a:endParaRPr lang="en-US" sz="2400" dirty="0"/>
          </a:p>
        </p:txBody>
      </p:sp>
      <p:sp>
        <p:nvSpPr>
          <p:cNvPr id="5" name="KPI card 2"/>
          <p:cNvSpPr/>
          <p:nvPr/>
        </p:nvSpPr>
        <p:spPr>
          <a:xfrm>
            <a:off x="2560320" y="109728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KPI text 2"/>
          <p:cNvSpPr txBox="1"/>
          <p:nvPr/>
        </p:nvSpPr>
        <p:spPr>
          <a:xfrm>
            <a:off x="2560320" y="109728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156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alerts</a:t>
            </a:r>
            <a:endParaRPr lang="en-US" sz="2400" dirty="0"/>
          </a:p>
        </p:txBody>
      </p:sp>
      <p:sp>
        <p:nvSpPr>
          <p:cNvPr id="7" name="KPI card 3"/>
          <p:cNvSpPr/>
          <p:nvPr/>
        </p:nvSpPr>
        <p:spPr>
          <a:xfrm>
            <a:off x="4663440" y="109728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KPI text 3"/>
          <p:cNvSpPr txBox="1"/>
          <p:nvPr/>
        </p:nvSpPr>
        <p:spPr>
          <a:xfrm>
            <a:off x="4663440" y="109728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78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rules fired</a:t>
            </a:r>
            <a:endParaRPr lang="en-US" sz="2400" dirty="0"/>
          </a:p>
        </p:txBody>
      </p:sp>
      <p:sp>
        <p:nvSpPr>
          <p:cNvPr id="9" name="KPI card 4"/>
          <p:cNvSpPr/>
          <p:nvPr/>
        </p:nvSpPr>
        <p:spPr>
          <a:xfrm>
            <a:off x="6766560" y="109728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KPI text 4"/>
          <p:cNvSpPr txBox="1"/>
          <p:nvPr/>
        </p:nvSpPr>
        <p:spPr>
          <a:xfrm>
            <a:off x="6766560" y="109728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28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alerts from top rule (Nmap)</a:t>
            </a:r>
            <a:endParaRPr lang="en-US" sz="2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2103120"/>
          <a:ext cx="38404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Card Takeaways"/>
          <p:cNvSpPr/>
          <p:nvPr/>
        </p:nvSpPr>
        <p:spPr>
          <a:xfrm>
            <a:off x="4480560" y="2103120"/>
            <a:ext cx="420624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Takeaways"/>
          <p:cNvSpPr txBox="1"/>
          <p:nvPr/>
        </p:nvSpPr>
        <p:spPr>
          <a:xfrm>
            <a:off x="4663440" y="2240280"/>
            <a:ext cx="3840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Takeaways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Network was the top category; the Nmap rule led with 28 alerts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Auth and file tests produced the expected alerts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Snort alerts visible in Wazuh; agent stayed active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Next: agent on Kali sensor, threshold rules, alert forwarding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C Wazuh">
  <a:themeElements>
    <a:clrScheme name="SOC Wazuh">
      <a:dk1>
        <a:srgbClr val="1B2733"/>
      </a:dk1>
      <a:lt1>
        <a:srgbClr val="FFFFFF"/>
      </a:lt1>
      <a:dk2>
        <a:srgbClr val="0B1F33"/>
      </a:dk2>
      <a:lt2>
        <a:srgbClr val="EAF0F5"/>
      </a:lt2>
      <a:accent1>
        <a:srgbClr val="0E7C86"/>
      </a:accent1>
      <a:accent2>
        <a:srgbClr val="F2A33A"/>
      </a:accent2>
      <a:accent3>
        <a:srgbClr val="D64545"/>
      </a:accent3>
      <a:accent4>
        <a:srgbClr val="3C8DBC"/>
      </a:accent4>
      <a:accent5>
        <a:srgbClr val="4FAE86"/>
      </a:accent5>
      <a:accent6>
        <a:srgbClr val="7A8CA0"/>
      </a:accent6>
      <a:hlink>
        <a:srgbClr val="0E7C86"/>
      </a:hlink>
      <a:folHlink>
        <a:srgbClr val="7A8CA0"/>
      </a:folHlink>
    </a:clrScheme>
    <a:fontScheme name="SOC Wazu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 SOC: Wazuh SIEM Setup &amp; Alert Monitoring</dc:title>
  <dc:subject>PptxGenJS Presentation</dc:subject>
  <dc:creator>Md Mohtasim</dc:creator>
  <cp:lastModifiedBy>Md Mohtasim</cp:lastModifiedBy>
  <cp:revision>1</cp:revision>
  <dcterms:created xsi:type="dcterms:W3CDTF">2026-10-13T14:39:23Z</dcterms:created>
  <dcterms:modified xsi:type="dcterms:W3CDTF">2026-10-13T14:39:23Z</dcterms:modified>
</cp:coreProperties>
</file>